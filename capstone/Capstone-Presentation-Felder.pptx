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9124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myself, the program, the semester, and the focus on agentic AI under Prof. Catlin.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two halves of the capstone: the dashboards, and the agentic AI method behind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that this is a starting point and a resource, not an official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people to the site. Mention the capstone tab and that READMEs are the first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map of all four before walking through them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came first even though I present it here, and that it was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CIP toggle and the year range. Mention the five peer institutions.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this with the tuition dashboard: management view versus student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student-perspective framing and why this one is repo-only.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lesson of the dashboard half of the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split: CLAUDE.md is written for the model, the PRD is written for a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 into the agentic AI half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/context command and that I checked it as I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completions dashboard as the concrete example of slicing.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this skill is downloadable into your own Claude Code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that only two of the five steps were used directly, and why that was reasonable.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accounting and healthcare marketing examples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straightforward that JSON would have done the job; Postgres was a deliberate learning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personal note: I think the React builds look a little better, though not dramatically.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thanks to Prof. Catlin, Dr. Kaplan, and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nfelder613.github.i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nfelder613.github.i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felder613/university-dashboard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nfelder613.github.io/yu-enrollment-dashboard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nfelder613/yu-enrollment-dashboar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nfelder613.github.io/yu-institutional-resources-dashboard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nfelder613/yu-institutional-resources-dashboar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felder613/yu-tuition-dashboar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anfelder613.github.io/yu-institutional-resources-dashboard/" TargetMode="External"/><Relationship Id="rId3" Type="http://schemas.openxmlformats.org/officeDocument/2006/relationships/hyperlink" Target="https://anfelder613.github.io" TargetMode="External"/><Relationship Id="rId7" Type="http://schemas.openxmlformats.org/officeDocument/2006/relationships/hyperlink" Target="https://github.com/anfelder613/yu-institutional-resources-dashboard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nfelder613.github.io/yu-enrollment-dashboard/" TargetMode="External"/><Relationship Id="rId5" Type="http://schemas.openxmlformats.org/officeDocument/2006/relationships/hyperlink" Target="https://github.com/anfelder613/yu-enrollment-dashboard" TargetMode="External"/><Relationship Id="rId4" Type="http://schemas.openxmlformats.org/officeDocument/2006/relationships/hyperlink" Target="https://github.com/anfelder613/university-dashboard" TargetMode="External"/><Relationship Id="rId9" Type="http://schemas.openxmlformats.org/officeDocument/2006/relationships/hyperlink" Target="https://github.com/anfelder613/yu-tuition-dashboa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PRESENTATION  ·  SUMMER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in the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 Workflow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dashboards built for the Office of the Provost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2834640" cy="18288"/>
          </a:xfrm>
          <a:prstGeom prst="rect">
            <a:avLst/>
          </a:prstGeom>
          <a:solidFill>
            <a:srgbClr val="3D5F96"/>
          </a:solidFill>
          <a:ln w="12700">
            <a:solidFill>
              <a:srgbClr val="3D5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Avigdor Felder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Visualization  ·  Katz School of Science and Health, Yeshiva University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Advised by Prof. Andy Catlin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anfelder613.github.io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Set Out to Learn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was as much about the method as the product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075688"/>
            <a:ext cx="475488" cy="475488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91109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as a working skill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91640" y="23134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demo — something a data analyst actually reaches for during the day.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120" y="3538728"/>
            <a:ext cx="475488" cy="475488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538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37413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Code, in depth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91640" y="377647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comfortable with the tool, then learning how to get real speed out of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" y="5001768"/>
            <a:ext cx="475488" cy="475488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5001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83717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people will use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91640" y="52395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busy, non-technical stakeholder — not for another analyst.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Came From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2286000"/>
          </a:xfrm>
          <a:prstGeom prst="roundRect">
            <a:avLst>
              <a:gd name="adj" fmla="val 36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88720" y="1645920"/>
            <a:ext cx="9784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i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“Make data a bigger part of the day-to-day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i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Provost’s office.”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request, not a delivery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is not going to land on the Provost’s desk tomorrow. YU has a process for how things move.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begin the conversation — and to have a working resource ready if that process starts.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Lives in One Place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here, then click through to the capstone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2E56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anfelder613.github.io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B3A6B"/>
          </a:solidFill>
          <a:ln w="12700">
            <a:solidFill>
              <a:srgbClr val="2E56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4224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intro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617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 and what the capstone set out to 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39776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B3A6B"/>
          </a:solidFill>
          <a:ln w="12700">
            <a:solidFill>
              <a:srgbClr val="2E56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4224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4617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React builds are clearly labeled and open in the browser.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39776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B3A6B"/>
          </a:solidFill>
          <a:ln w="12700">
            <a:solidFill>
              <a:srgbClr val="2E56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0" y="4224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1040" y="4617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builds live as repos — GitHub Pages won’t host them.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README first — it’s the fastest way into any of these projects.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Dashboards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built on synthetic data as a proof of concept; three on real IPEDS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075688"/>
            <a:ext cx="438912" cy="438912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Overview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domains, synthetic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990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Python · Plotly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2075688"/>
            <a:ext cx="438912" cy="438912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PhD Completions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2376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and Math doctorates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2990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Recharts · Tailwind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60120" y="4361688"/>
            <a:ext cx="438912" cy="438912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Resources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4754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university spends per student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5276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Postgres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406908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83680" y="4361688"/>
            <a:ext cx="438912" cy="438912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Tuition &amp; Fees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23760" y="4754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student pays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5276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Postgres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566928" cy="566928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840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Overview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71600" y="106070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I built — and the proof of concept for everything after 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2331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Python · Plotly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4256" y="178308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26864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26864" y="2331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pulled together from a variety of sources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8432" y="178308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0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21040" y="2331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Enrollment, academics, courses, admissions, finance and ops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showed me what Claude Code could do. It also showed me how much was too much on one screen.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49560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</a:t>
            </a:r>
            <a:r>
              <a:rPr lang="en-US" sz="1050" u="sng" dirty="0">
                <a:solidFill>
                  <a:srgbClr val="1F4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https://github.com/anfelder613/university-dashboard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669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needs a server behind it, so GitHub Pages can’t host it live.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566928" cy="566928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840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PhD Completions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71600" y="106070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compared to five peer private universities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2331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Recharts · Tailwind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4256" y="178308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26864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26864" y="2331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IPEDS → Python → JSON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8432" y="178308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0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21040" y="2331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 completions, toggling between Math and Computer Science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measure, two dimensions: CIP code and year, 2015 through 2024.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489204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</a:t>
            </a:r>
            <a:r>
              <a:rPr lang="en-US" sz="1050" u="sng" dirty="0">
                <a:solidFill>
                  <a:srgbClr val="1F4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https://anfelder613.github.io/yu-enrollment-dashboard/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530352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</a:t>
            </a:r>
            <a:r>
              <a:rPr lang="en-US" sz="1050" u="sng" dirty="0">
                <a:solidFill>
                  <a:srgbClr val="1F4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https://github.com/anfelder613/yu-enrollment-dashboard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566928" cy="566928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840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Resources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71600" y="106070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university’s side of the ledger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2331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Recharts · Tailwind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4256" y="178308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26864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26864" y="2331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IPEDS → Python → Postgres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8432" y="178308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0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21040" y="2331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each institution spends per student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Whole-university, not per-program — and the first build to sit on a real database.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489204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</a:t>
            </a:r>
            <a:r>
              <a:rPr lang="en-US" sz="1050" u="sng" dirty="0">
                <a:solidFill>
                  <a:srgbClr val="1F4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https://anfelder613.github.io/yu-institutional-resources-dashboard/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530352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</a:t>
            </a:r>
            <a:r>
              <a:rPr lang="en-US" sz="1050" u="sng" dirty="0">
                <a:solidFill>
                  <a:srgbClr val="1F4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https://github.com/anfelder613/yu-institutional-resources-dashboard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566928" cy="566928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840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Tuition &amp; Fees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71600" y="106070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from the student’s side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2331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Python · Postgres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4256" y="178308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26864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26864" y="2331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IPEDS → Python → Postgres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8432" y="178308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0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21040" y="2331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and graduate tuition, including fees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3 asks what the university spends. This one asks what the student pays.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49560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</a:t>
            </a:r>
            <a:r>
              <a:rPr lang="en-US" sz="1050" u="sng" dirty="0">
                <a:solidFill>
                  <a:srgbClr val="1F4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https://github.com/anfelder613/yu-tuition-dashboard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669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needs a server behind it, so GitHub Pages can’t host it live.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Measure Beats Five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Dr. Catlin pushed me toward, and the one that changed the project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3591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domains on one screen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Impressive to build. Hard for a busy stakeholder to react to.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2286000"/>
          </a:xfrm>
          <a:prstGeom prst="roundRect">
            <a:avLst>
              <a:gd name="adj" fmla="val 36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2–4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3591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measure each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0" y="2880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Completions. Spend per student. Tuition. Plus year, plus CIP.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46177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it’s too complex, they overlook it — and then you never get feedback.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97280" y="52578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how the data turns into action. Simple is what earns it.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Files Worth Opening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repository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2103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32688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30175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orientation to what the project is and how to run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4256" y="182880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26864" y="2103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PRD.md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26864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HUMAN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26864" y="30175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requirements — goals, scope, and decisions in readable form.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8432" y="182880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0" y="2103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2104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21040" y="30175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I actually lived in while coding. Claude Code kept the PRD in sync with it.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Work Actually Got Done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method, following Matt Pocock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Session Short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easiest habit to adopt — and the easiest to forget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114800" cy="2880360"/>
          </a:xfrm>
          <a:prstGeom prst="roundRect">
            <a:avLst>
              <a:gd name="adj" fmla="val 285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49300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context window</a:t>
            </a:r>
            <a:endParaRPr lang="en-US" sz="14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roughly where he draws the 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0" y="210312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just the chat you’re sitting in. Let it run long and the model gets worse, not better.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Pocock’s reading of Claude is that a leaner session outperforms a loaded one.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/context to see how much you’ve used so far. Start fresh before you need to.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in Vertical Slices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whole feature at a time — not one whole layer at a time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291840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5420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completions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years. No universities. Nothing else on the screen.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069080" y="2880360"/>
            <a:ext cx="457200" cy="365760"/>
          </a:xfrm>
          <a:prstGeom prst="rightArrow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3291840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0" y="25420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years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0" y="3063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same number moves across 2015–2024.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01000" y="2880360"/>
            <a:ext cx="457200" cy="365760"/>
          </a:xfrm>
          <a:prstGeom prst="rightArrow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03920" y="1920240"/>
            <a:ext cx="3291840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7824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0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778240" y="25420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CIP toggle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78240" y="3063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Math and Computer Science.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46177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layer by layer — database, then back end, then front end — hides bugs until the end. A slice gives you the whole path through the product, so you catch them early and you can actually see what you built.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Grill Me Skill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made the biggest difference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the AI to go on a question rampage — and answer every one of them.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767328"/>
            <a:ext cx="402336" cy="402336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acts like a stakeholder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63440" y="3749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person who asks you twenty questions until they understand what you’re building.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681728"/>
            <a:ext cx="402336" cy="402336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681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writes the CLAUDE.md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63440" y="46634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answers become the documentation that everything else is built 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596128"/>
            <a:ext cx="402336" cy="402336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5596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5577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trades time for time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63440" y="55778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at the start, faster everywhere after — because the model already knows what you want.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Five-Step Life Cycle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used, and what my documentation already covered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57400" cy="2148840"/>
          </a:xfrm>
          <a:prstGeom prst="roundRect">
            <a:avLst>
              <a:gd name="adj" fmla="val 4000"/>
            </a:avLst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Grill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1828800"/>
            <a:ext cx="2057400" cy="214884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6324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63240" y="2697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rules, written down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1828800"/>
            <a:ext cx="2057400" cy="214884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0" y="2697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do, in order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60920" y="1828800"/>
            <a:ext cx="2057400" cy="2148840"/>
          </a:xfrm>
          <a:prstGeom prst="roundRect">
            <a:avLst>
              <a:gd name="adj" fmla="val 4000"/>
            </a:avLst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4380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43800" y="2697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by slice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0" y="1828800"/>
            <a:ext cx="2057400" cy="214884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78408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784080" y="2697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187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= the steps I ran directly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47091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 is the conversation. Spec turns it into written requirements. Ticket breaks that into slice one, slice two, slice three.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CLAUDE.md and PRD already were the spec, so I moved from Grill straight to Implement.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ran on its own a lot of the time — there was more to get out of it than I did.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Skill Actually 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pre-programmed routine for something you do over and over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108960"/>
          </a:xfrm>
          <a:prstGeom prst="roundRect">
            <a:avLst>
              <a:gd name="adj" fmla="val 2647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103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it once, use it everywhere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 Me — asks until it understands you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— builds from the spec or tickets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— reads back what was written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404164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them into a single project or into your whole Claude Code environment.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3108960"/>
          </a:xfrm>
          <a:prstGeom prst="roundRect">
            <a:avLst>
              <a:gd name="adj" fmla="val 264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outside the workflow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There’s a skill that builds an HTML explainer on any subject you name.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0" y="331012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“Teach me the basics of accounting.”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“Teach me marketing in healthcare.”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422452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different job: one repeatable task, packaged.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or Postgres?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much data, JSON would have been enough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2834640"/>
          </a:xfrm>
          <a:prstGeom prst="roundRect">
            <a:avLst>
              <a:gd name="adj" fmla="val 2903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text file you can just open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install, nothing to run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answer at a small scale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2834640"/>
          </a:xfrm>
          <a:prstGeom prst="roundRect">
            <a:avLst>
              <a:gd name="adj" fmla="val 2903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that stores data and answers questions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large volumes and many writers at once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combine without loading it all into memory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why Postgres? To learn it — and so the project has somewhere to grow if this ever scales up.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or React?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these dashboards went each way — and both choices were reasonable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794760"/>
          </a:xfrm>
          <a:prstGeom prst="roundRect">
            <a:avLst>
              <a:gd name="adj" fmla="val 2169"/>
            </a:avLst>
          </a:prstGeom>
          <a:solidFill>
            <a:srgbClr val="F4F6FA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· Vite · Recharts · Tailwind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free on GitHub Pages and stays up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exactly the way you built it, every time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fast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work up front on the layout and the code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3794760"/>
          </a:xfrm>
          <a:prstGeom prst="roundRect">
            <a:avLst>
              <a:gd name="adj" fmla="val 2169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27000" dist="25400" dir="5400000" algn="bl" rotWithShape="0">
              <a:srgbClr val="9AAA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· Python · Plotly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which most data people already read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code to write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Recalculates quickly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server running behind it, so it can’t go live on Pages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this capstone, in one place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 w="12700">
            <a:solidFill>
              <a:srgbClr val="2E56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anfelder613.github.io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University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0" y="3291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PhD Completions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3840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</a:t>
            </a:r>
            <a:r>
              <a:rPr lang="en-US" sz="1200" dirty="0">
                <a:solidFill>
                  <a:srgbClr val="4A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dashboard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Institutional Resources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4389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</a:t>
            </a:r>
            <a:r>
              <a:rPr lang="en-US" sz="1200" dirty="0">
                <a:solidFill>
                  <a:srgbClr val="4A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Tuition &amp; Fees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4937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Avigdor Felder  ·  Katz School of Science and Health, Yeshiva University  ·  Summer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1889</Words>
  <Application>Microsoft Macintosh PowerPoint</Application>
  <PresentationFormat>Widescreen</PresentationFormat>
  <Paragraphs>260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Capstone: Agentic AI in the Data Analyst Workflow</dc:title>
  <dc:subject>PptxGenJS Presentation</dc:subject>
  <dc:creator>Avigdor Felder</dc:creator>
  <cp:lastModifiedBy>Avigdor Felder [student]</cp:lastModifiedBy>
  <cp:revision>2</cp:revision>
  <dcterms:created xsi:type="dcterms:W3CDTF">2026-08-12T02:00:31Z</dcterms:created>
  <dcterms:modified xsi:type="dcterms:W3CDTF">2026-08-12T03:31:09Z</dcterms:modified>
</cp:coreProperties>
</file>