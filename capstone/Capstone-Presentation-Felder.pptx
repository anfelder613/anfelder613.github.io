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myself, the program, the semester, and the focus on agentic AI under Prof. Catlin.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two halves of the capstone: the dashboards, and the agentic AI method behind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clear that this is a starting point and a resource, not an official deliverable.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people to the site. Mention the capstone tab and that READMEs are the first stop.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map of all four before walking through them one at a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that this came first even though I present it here, and that it was synthetic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CIP toggle and the year range. Mention the five peer institutions.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Contrast this with the tuition dashboard: management view versus student 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student-perspective framing and why this one is repo-only.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central lesson of the dashboard half of the capstone.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split: CLAUDE.md is written for the model, the PRD is written for a person.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slide into the agentic AI half of the talk.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the /context command and that I checked it as I worked.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 completions dashboard as the concrete example of slicing.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that this skill is downloadable into your own Claude Code environment.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honest that only two of the five steps were used directly, and why that was reasonable.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the accounting and healthcare marketing examples out 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straightforward that JSON would have done the job; Postgres was a deliberate learning choice.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the personal note: I think the React builds look a little better, though not dramatically.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thanks to Prof. Catlin, Dr. Kaplan, and the program.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anfelder613.github.io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anfelder613.github.io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nfelder613/university-dashboar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anfelder613.github.io/yu-enrollment-dashboard/" TargetMode="External"/><Relationship Id="rId2" Type="http://schemas.openxmlformats.org/officeDocument/2006/relationships/hyperlink" Target="https://github.com/anfelder613/yu-enrollment-dashboard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anfelder613.github.io/yu-institutional-resources-dashboard/" TargetMode="External"/><Relationship Id="rId2" Type="http://schemas.openxmlformats.org/officeDocument/2006/relationships/hyperlink" Target="https://github.com/anfelder613/yu-institutional-resources-dashboard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nfelder613/yu-tuition-dashboar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hyperlink" Target="https://anfelder613.github.io" TargetMode="External"/><Relationship Id="rId2" Type="http://schemas.openxmlformats.org/officeDocument/2006/relationships/hyperlink" Target="https://github.com/anfelder613/university-dashboard" TargetMode="External"/><Relationship Id="rId3" Type="http://schemas.openxmlformats.org/officeDocument/2006/relationships/hyperlink" Target="https://github.com/anfelder613/yu-enrollment-dashboard" TargetMode="External"/><Relationship Id="rId4" Type="http://schemas.openxmlformats.org/officeDocument/2006/relationships/hyperlink" Target="https://anfelder613.github.io/yu-enrollment-dashboard/" TargetMode="External"/><Relationship Id="rId5" Type="http://schemas.openxmlformats.org/officeDocument/2006/relationships/hyperlink" Target="https://github.com/anfelder613/yu-institutional-resources-dashboard" TargetMode="External"/><Relationship Id="rId6" Type="http://schemas.openxmlformats.org/officeDocument/2006/relationships/hyperlink" Target="https://anfelder613.github.io/yu-institutional-resources-dashboard/" TargetMode="External"/><Relationship Id="rId7" Type="http://schemas.openxmlformats.org/officeDocument/2006/relationships/hyperlink" Target="https://github.com/anfelder613/yu-tuition-dashboard" TargetMode="External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9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344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F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PRESENTATION  ·  SUMMER 2026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169164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 AI in the</a:t>
            </a:r>
            <a:endParaRPr lang="en-US" sz="42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Analyst Workflow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520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BF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IPEDS dashboards built for the Office of the Provost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22960" y="4206240"/>
            <a:ext cx="2834640" cy="18288"/>
          </a:xfrm>
          <a:prstGeom prst="rect">
            <a:avLst/>
          </a:prstGeom>
          <a:solidFill>
            <a:srgbClr val="3D5F96"/>
          </a:solidFill>
          <a:ln w="12700">
            <a:solidFill>
              <a:srgbClr val="3D5F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4348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Avigdor Felder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22960" y="48006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BF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Analytics &amp; Visualization  ·  Katz School of Science and Health, Yeshiva University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BF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Advised by Prof. Andy Catlin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5623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u="sng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anfelder613.github.io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 Set Out to Learn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capstone was as much about the method as the product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881360" cy="123444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E8EEF7"/>
            </a:solidFill>
            <a:prstDash val="solid"/>
          </a:ln>
          <a:effectLst>
            <a:outerShdw sx="100000" sy="100000" kx="0" ky="0" algn="bl" rotWithShape="0" blurRad="127000" dist="25400" dir="5400000">
              <a:srgbClr val="9AAAC4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075688"/>
            <a:ext cx="475488" cy="475488"/>
          </a:xfrm>
          <a:prstGeom prst="ellipse">
            <a:avLst/>
          </a:prstGeom>
          <a:solidFill>
            <a:srgbClr val="12294F"/>
          </a:solidFill>
          <a:ln w="12700">
            <a:solidFill>
              <a:srgbClr val="12294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0756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91640" y="1911096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 AI as a working skill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691640" y="2313432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demo — something a data analyst actually reaches for during the day.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154680"/>
            <a:ext cx="10881360" cy="123444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E8EEF7"/>
            </a:solidFill>
            <a:prstDash val="solid"/>
          </a:ln>
          <a:effectLst>
            <a:outerShdw sx="100000" sy="100000" kx="0" ky="0" algn="bl" rotWithShape="0" blurRad="127000" dist="25400" dir="5400000">
              <a:srgbClr val="9AAAC4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60120" y="3538728"/>
            <a:ext cx="475488" cy="475488"/>
          </a:xfrm>
          <a:prstGeom prst="ellipse">
            <a:avLst/>
          </a:prstGeom>
          <a:solidFill>
            <a:srgbClr val="12294F"/>
          </a:solidFill>
          <a:ln w="12700">
            <a:solidFill>
              <a:srgbClr val="12294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35387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691640" y="3374136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Code, in depth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1691640" y="3776472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comfortable with the tool, then learning how to get real speed out of it.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4617720"/>
            <a:ext cx="10881360" cy="123444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E8EEF7"/>
            </a:solidFill>
            <a:prstDash val="solid"/>
          </a:ln>
          <a:effectLst>
            <a:outerShdw sx="100000" sy="100000" kx="0" ky="0" algn="bl" rotWithShape="0" blurRad="127000" dist="25400" dir="5400000">
              <a:srgbClr val="9AAAC4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60120" y="5001768"/>
            <a:ext cx="475488" cy="475488"/>
          </a:xfrm>
          <a:prstGeom prst="ellipse">
            <a:avLst/>
          </a:prstGeom>
          <a:solidFill>
            <a:srgbClr val="12294F"/>
          </a:solidFill>
          <a:ln w="12700">
            <a:solidFill>
              <a:srgbClr val="12294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50017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691640" y="4837176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Dashboards people will use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691640" y="5239512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a busy, non-technical stakeholder — not for another analyst.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Project Came From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645920"/>
            <a:ext cx="10881360" cy="2286000"/>
          </a:xfrm>
          <a:prstGeom prst="roundRect">
            <a:avLst>
              <a:gd name="adj" fmla="val 3600"/>
            </a:avLst>
          </a:prstGeom>
          <a:solidFill>
            <a:srgbClr val="E8EEF7"/>
          </a:solidFill>
          <a:ln w="12700">
            <a:solidFill>
              <a:srgbClr val="E8EEF7"/>
            </a:solidFill>
            <a:prstDash val="solid"/>
          </a:ln>
          <a:effectLst>
            <a:outerShdw sx="100000" sy="100000" kx="0" ky="0" algn="bl" rotWithShape="0" blurRad="127000" dist="25400" dir="5400000">
              <a:srgbClr val="9AAAC4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188720" y="1645920"/>
            <a:ext cx="9784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2900" i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“Make data a bigger part of the day-to-day</a:t>
            </a:r>
            <a:endParaRPr lang="en-US" sz="29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2900" i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 the Provost’s office.”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44348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request, not a delivery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dashboard is not going to land on the Provost’s desk tomorrow. YU has a process for how things move.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 is to begin the conversation — and to have a working resource ready if that process starts.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29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Lives in One Place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BF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here, then click through to the capstone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2148840"/>
            <a:ext cx="10698480" cy="1371600"/>
          </a:xfrm>
          <a:prstGeom prst="roundRect">
            <a:avLst>
              <a:gd name="adj" fmla="val 6667"/>
            </a:avLst>
          </a:prstGeom>
          <a:solidFill>
            <a:srgbClr val="1B3A6B"/>
          </a:solidFill>
          <a:ln w="12700">
            <a:solidFill>
              <a:srgbClr val="2E569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14884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u="sng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anfelder613.github.io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731520" y="3977640"/>
            <a:ext cx="3383280" cy="1691640"/>
          </a:xfrm>
          <a:prstGeom prst="roundRect">
            <a:avLst>
              <a:gd name="adj" fmla="val 4865"/>
            </a:avLst>
          </a:prstGeom>
          <a:solidFill>
            <a:srgbClr val="1B3A6B"/>
          </a:solidFill>
          <a:ln w="12700">
            <a:solidFill>
              <a:srgbClr val="2E569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422452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short intro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5840" y="461772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 am and what the capstone set out to do.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89120" y="3977640"/>
            <a:ext cx="3383280" cy="1691640"/>
          </a:xfrm>
          <a:prstGeom prst="roundRect">
            <a:avLst>
              <a:gd name="adj" fmla="val 4865"/>
            </a:avLst>
          </a:prstGeom>
          <a:solidFill>
            <a:srgbClr val="1B3A6B"/>
          </a:solidFill>
          <a:ln w="12700">
            <a:solidFill>
              <a:srgbClr val="2E569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3440" y="422452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dashboards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663440" y="461772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React builds are clearly labeled and open in the browser.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046720" y="3977640"/>
            <a:ext cx="3383280" cy="1691640"/>
          </a:xfrm>
          <a:prstGeom prst="roundRect">
            <a:avLst>
              <a:gd name="adj" fmla="val 4865"/>
            </a:avLst>
          </a:prstGeom>
          <a:solidFill>
            <a:srgbClr val="1B3A6B"/>
          </a:solidFill>
          <a:ln w="12700">
            <a:solidFill>
              <a:srgbClr val="2E569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422452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Repositories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321040" y="461772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Streamlit builds live as repos — GitHub Pages won’t host them.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31520" y="589788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BF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README first — it’s the fastest way into any of these projects.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Dashboards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built on synthetic data as a proof of concept; three on real IPEDS data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57800" cy="1920240"/>
          </a:xfrm>
          <a:prstGeom prst="roundRect">
            <a:avLst>
              <a:gd name="adj" fmla="val 4286"/>
            </a:avLst>
          </a:prstGeom>
          <a:solidFill>
            <a:srgbClr val="F4F6FA"/>
          </a:solidFill>
          <a:ln w="12700">
            <a:solidFill>
              <a:srgbClr val="E8EEF7"/>
            </a:solidFill>
            <a:prstDash val="solid"/>
          </a:ln>
          <a:effectLst>
            <a:outerShdw sx="100000" sy="100000" kx="0" ky="0" algn="bl" rotWithShape="0" blurRad="127000" dist="25400" dir="5400000">
              <a:srgbClr val="9AAAC4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075688"/>
            <a:ext cx="438912" cy="438912"/>
          </a:xfrm>
          <a:prstGeom prst="ellipse">
            <a:avLst/>
          </a:prstGeom>
          <a:solidFill>
            <a:srgbClr val="12294F"/>
          </a:solidFill>
          <a:ln w="12700">
            <a:solidFill>
              <a:srgbClr val="12294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075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00200" y="20574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University Overview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00200" y="24688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domains, synthetic data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600200" y="299008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· Python · Plotly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783080"/>
            <a:ext cx="5257800" cy="1920240"/>
          </a:xfrm>
          <a:prstGeom prst="roundRect">
            <a:avLst>
              <a:gd name="adj" fmla="val 4286"/>
            </a:avLst>
          </a:prstGeom>
          <a:solidFill>
            <a:srgbClr val="F4F6FA"/>
          </a:solidFill>
          <a:ln w="12700">
            <a:solidFill>
              <a:srgbClr val="E8EEF7"/>
            </a:solidFill>
            <a:prstDash val="solid"/>
          </a:ln>
          <a:effectLst>
            <a:outerShdw sx="100000" sy="100000" kx="0" ky="0" algn="bl" rotWithShape="0" blurRad="127000" dist="25400" dir="5400000">
              <a:srgbClr val="9AAAC4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83680" y="2075688"/>
            <a:ext cx="438912" cy="438912"/>
          </a:xfrm>
          <a:prstGeom prst="ellipse">
            <a:avLst/>
          </a:prstGeom>
          <a:solidFill>
            <a:srgbClr val="12294F"/>
          </a:solidFill>
          <a:ln w="12700">
            <a:solidFill>
              <a:srgbClr val="12294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0" y="2075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223760" y="20574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PhD Completions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223760" y="24688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and Math doctorates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223760" y="299008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· Vite · Recharts · Tailwind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4069080"/>
            <a:ext cx="5257800" cy="1920240"/>
          </a:xfrm>
          <a:prstGeom prst="roundRect">
            <a:avLst>
              <a:gd name="adj" fmla="val 4286"/>
            </a:avLst>
          </a:prstGeom>
          <a:solidFill>
            <a:srgbClr val="F4F6FA"/>
          </a:solidFill>
          <a:ln w="12700">
            <a:solidFill>
              <a:srgbClr val="E8EEF7"/>
            </a:solidFill>
            <a:prstDash val="solid"/>
          </a:ln>
          <a:effectLst>
            <a:outerShdw sx="100000" sy="100000" kx="0" ky="0" algn="bl" rotWithShape="0" blurRad="127000" dist="25400" dir="5400000">
              <a:srgbClr val="9AAAC4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60120" y="4361688"/>
            <a:ext cx="438912" cy="438912"/>
          </a:xfrm>
          <a:prstGeom prst="ellipse">
            <a:avLst/>
          </a:prstGeom>
          <a:solidFill>
            <a:srgbClr val="12294F"/>
          </a:solidFill>
          <a:ln w="12700">
            <a:solidFill>
              <a:srgbClr val="12294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4361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00200" y="43434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Institutional Resources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600200" y="47548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university spends per student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600200" y="527608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· Postgres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069080"/>
            <a:ext cx="5257800" cy="1920240"/>
          </a:xfrm>
          <a:prstGeom prst="roundRect">
            <a:avLst>
              <a:gd name="adj" fmla="val 4286"/>
            </a:avLst>
          </a:prstGeom>
          <a:solidFill>
            <a:srgbClr val="F4F6FA"/>
          </a:solidFill>
          <a:ln w="12700">
            <a:solidFill>
              <a:srgbClr val="E8EEF7"/>
            </a:solidFill>
            <a:prstDash val="solid"/>
          </a:ln>
          <a:effectLst>
            <a:outerShdw sx="100000" sy="100000" kx="0" ky="0" algn="bl" rotWithShape="0" blurRad="127000" dist="25400" dir="5400000">
              <a:srgbClr val="9AAAC4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583680" y="4361688"/>
            <a:ext cx="438912" cy="438912"/>
          </a:xfrm>
          <a:prstGeom prst="ellipse">
            <a:avLst/>
          </a:prstGeom>
          <a:solidFill>
            <a:srgbClr val="12294F"/>
          </a:solidFill>
          <a:ln w="12700">
            <a:solidFill>
              <a:srgbClr val="12294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0" y="4361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223760" y="43434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Tuition &amp; Fees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7223760" y="47548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student pays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223760" y="527608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· Postgres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11480"/>
            <a:ext cx="566928" cy="566928"/>
          </a:xfrm>
          <a:prstGeom prst="ellipse">
            <a:avLst/>
          </a:prstGeom>
          <a:solidFill>
            <a:srgbClr val="12294F"/>
          </a:solidFill>
          <a:ln w="12700">
            <a:solidFill>
              <a:srgbClr val="12294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411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71600" y="384048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University Overview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1371600" y="1060704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thing I built — and the proof of concept for everything after it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502152" cy="1691640"/>
          </a:xfrm>
          <a:prstGeom prst="roundRect">
            <a:avLst>
              <a:gd name="adj" fmla="val 4865"/>
            </a:avLst>
          </a:prstGeom>
          <a:solidFill>
            <a:srgbClr val="F4F6FA"/>
          </a:solidFill>
          <a:ln w="12700">
            <a:solidFill>
              <a:srgbClr val="E8EEF7"/>
            </a:solidFill>
            <a:prstDash val="solid"/>
          </a:ln>
          <a:effectLst>
            <a:outerShdw sx="100000" sy="100000" kx="0" ky="0" algn="bl" rotWithShape="0" blurRad="127000" dist="25400" dir="5400000">
              <a:srgbClr val="9AAAC4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32688" y="19933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0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932688" y="233172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· Python · Plotly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34256" y="1783080"/>
            <a:ext cx="3502152" cy="1691640"/>
          </a:xfrm>
          <a:prstGeom prst="roundRect">
            <a:avLst>
              <a:gd name="adj" fmla="val 4865"/>
            </a:avLst>
          </a:prstGeom>
          <a:solidFill>
            <a:srgbClr val="F4F6FA"/>
          </a:solidFill>
          <a:ln w="12700">
            <a:solidFill>
              <a:srgbClr val="E8EEF7"/>
            </a:solidFill>
            <a:prstDash val="solid"/>
          </a:ln>
          <a:effectLst>
            <a:outerShdw sx="100000" sy="100000" kx="0" ky="0" algn="bl" rotWithShape="0" blurRad="127000" dist="25400" dir="5400000">
              <a:srgbClr val="9AAAC4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626864" y="19933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0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626864" y="233172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Synthetic, pulled together from a variety of sources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028432" y="1783080"/>
            <a:ext cx="3502152" cy="1691640"/>
          </a:xfrm>
          <a:prstGeom prst="roundRect">
            <a:avLst>
              <a:gd name="adj" fmla="val 4865"/>
            </a:avLst>
          </a:prstGeom>
          <a:solidFill>
            <a:srgbClr val="F4F6FA"/>
          </a:solidFill>
          <a:ln w="12700">
            <a:solidFill>
              <a:srgbClr val="E8EEF7"/>
            </a:solidFill>
            <a:prstDash val="solid"/>
          </a:ln>
          <a:effectLst>
            <a:outerShdw sx="100000" sy="100000" kx="0" ky="0" algn="bl" rotWithShape="0" blurRad="127000" dist="25400" dir="5400000">
              <a:srgbClr val="9AAAC4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21040" y="19933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0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321040" y="233172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Enrollment, academics, courses, admissions, finance and ops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37490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showed me what Claude Code could do. It also showed me how much was too much on one screen.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40080" y="4663440"/>
            <a:ext cx="10881360" cy="868680"/>
          </a:xfrm>
          <a:prstGeom prst="roundRect">
            <a:avLst>
              <a:gd name="adj" fmla="val 9474"/>
            </a:avLst>
          </a:prstGeom>
          <a:solidFill>
            <a:srgbClr val="E8EEF7"/>
          </a:solidFill>
          <a:ln w="12700">
            <a:solidFill>
              <a:srgbClr val="E8EEF7"/>
            </a:solidFill>
            <a:prstDash val="solid"/>
          </a:ln>
          <a:effectLst>
            <a:outerShdw sx="100000" sy="100000" kx="0" ky="0" algn="bl" rotWithShape="0" blurRad="127000" dist="25400" dir="5400000">
              <a:srgbClr val="9AAAC4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60120" y="4956048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 </a:t>
            </a:r>
            <a:pPr indent="0" marL="0">
              <a:buNone/>
            </a:pPr>
            <a:r>
              <a:rPr lang="en-US" sz="1050" u="sng" dirty="0">
                <a:solidFill>
                  <a:srgbClr val="1F4E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https://github.com/anfelder613/university-dashboard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56692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needs a server behind it, so GitHub Pages can’t host it live.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11480"/>
            <a:ext cx="566928" cy="566928"/>
          </a:xfrm>
          <a:prstGeom prst="ellipse">
            <a:avLst/>
          </a:prstGeom>
          <a:solidFill>
            <a:srgbClr val="12294F"/>
          </a:solidFill>
          <a:ln w="12700">
            <a:solidFill>
              <a:srgbClr val="12294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411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71600" y="384048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PhD Completions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1371600" y="1060704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 compared to five peer private universities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502152" cy="1691640"/>
          </a:xfrm>
          <a:prstGeom prst="roundRect">
            <a:avLst>
              <a:gd name="adj" fmla="val 4865"/>
            </a:avLst>
          </a:prstGeom>
          <a:solidFill>
            <a:srgbClr val="F4F6FA"/>
          </a:solidFill>
          <a:ln w="12700">
            <a:solidFill>
              <a:srgbClr val="E8EEF7"/>
            </a:solidFill>
            <a:prstDash val="solid"/>
          </a:ln>
          <a:effectLst>
            <a:outerShdw sx="100000" sy="100000" kx="0" ky="0" algn="bl" rotWithShape="0" blurRad="127000" dist="25400" dir="5400000">
              <a:srgbClr val="9AAAC4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32688" y="19933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0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932688" y="233172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· Vite · Recharts · Tailwind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34256" y="1783080"/>
            <a:ext cx="3502152" cy="1691640"/>
          </a:xfrm>
          <a:prstGeom prst="roundRect">
            <a:avLst>
              <a:gd name="adj" fmla="val 4865"/>
            </a:avLst>
          </a:prstGeom>
          <a:solidFill>
            <a:srgbClr val="F4F6FA"/>
          </a:solidFill>
          <a:ln w="12700">
            <a:solidFill>
              <a:srgbClr val="E8EEF7"/>
            </a:solidFill>
            <a:prstDash val="solid"/>
          </a:ln>
          <a:effectLst>
            <a:outerShdw sx="100000" sy="100000" kx="0" ky="0" algn="bl" rotWithShape="0" blurRad="127000" dist="25400" dir="5400000">
              <a:srgbClr val="9AAAC4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626864" y="19933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0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626864" y="233172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IPEDS → Python → JSON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028432" y="1783080"/>
            <a:ext cx="3502152" cy="1691640"/>
          </a:xfrm>
          <a:prstGeom prst="roundRect">
            <a:avLst>
              <a:gd name="adj" fmla="val 4865"/>
            </a:avLst>
          </a:prstGeom>
          <a:solidFill>
            <a:srgbClr val="F4F6FA"/>
          </a:solidFill>
          <a:ln w="12700">
            <a:solidFill>
              <a:srgbClr val="E8EEF7"/>
            </a:solidFill>
            <a:prstDash val="solid"/>
          </a:ln>
          <a:effectLst>
            <a:outerShdw sx="100000" sy="100000" kx="0" ky="0" algn="bl" rotWithShape="0" blurRad="127000" dist="25400" dir="5400000">
              <a:srgbClr val="9AAAC4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21040" y="19933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0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321040" y="233172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Doctoral completions, toggling between Math and Computer Science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37490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measure, two dimensions: CIP code and year, 2015 through 2024.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40080" y="4663440"/>
            <a:ext cx="10881360" cy="1234440"/>
          </a:xfrm>
          <a:prstGeom prst="roundRect">
            <a:avLst>
              <a:gd name="adj" fmla="val 6667"/>
            </a:avLst>
          </a:prstGeom>
          <a:solidFill>
            <a:srgbClr val="E8EEF7"/>
          </a:solidFill>
          <a:ln w="12700">
            <a:solidFill>
              <a:srgbClr val="E8EEF7"/>
            </a:solidFill>
            <a:prstDash val="solid"/>
          </a:ln>
          <a:effectLst>
            <a:outerShdw sx="100000" sy="100000" kx="0" ky="0" algn="bl" rotWithShape="0" blurRad="127000" dist="25400" dir="5400000">
              <a:srgbClr val="9AAAC4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60120" y="4892040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 </a:t>
            </a:r>
            <a:pPr indent="0" marL="0">
              <a:buNone/>
            </a:pPr>
            <a:r>
              <a:rPr lang="en-US" sz="1050" u="sng" dirty="0">
                <a:solidFill>
                  <a:srgbClr val="1F4E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https://anfelder613.github.io/yu-enrollment-dashboard/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60120" y="5303520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 </a:t>
            </a:r>
            <a:pPr indent="0" marL="0">
              <a:buNone/>
            </a:pPr>
            <a:r>
              <a:rPr lang="en-US" sz="1050" u="sng" dirty="0">
                <a:solidFill>
                  <a:srgbClr val="1F4E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https://github.com/anfelder613/yu-enrollment-dashboard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11480"/>
            <a:ext cx="566928" cy="566928"/>
          </a:xfrm>
          <a:prstGeom prst="ellipse">
            <a:avLst/>
          </a:prstGeom>
          <a:solidFill>
            <a:srgbClr val="12294F"/>
          </a:solidFill>
          <a:ln w="12700">
            <a:solidFill>
              <a:srgbClr val="12294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411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71600" y="384048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Institutional Resources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1371600" y="1060704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university’s side of the ledger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502152" cy="1691640"/>
          </a:xfrm>
          <a:prstGeom prst="roundRect">
            <a:avLst>
              <a:gd name="adj" fmla="val 4865"/>
            </a:avLst>
          </a:prstGeom>
          <a:solidFill>
            <a:srgbClr val="F4F6FA"/>
          </a:solidFill>
          <a:ln w="12700">
            <a:solidFill>
              <a:srgbClr val="E8EEF7"/>
            </a:solidFill>
            <a:prstDash val="solid"/>
          </a:ln>
          <a:effectLst>
            <a:outerShdw sx="100000" sy="100000" kx="0" ky="0" algn="bl" rotWithShape="0" blurRad="127000" dist="25400" dir="5400000">
              <a:srgbClr val="9AAAC4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32688" y="19933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0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932688" y="233172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· Vite · Recharts · Tailwind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34256" y="1783080"/>
            <a:ext cx="3502152" cy="1691640"/>
          </a:xfrm>
          <a:prstGeom prst="roundRect">
            <a:avLst>
              <a:gd name="adj" fmla="val 4865"/>
            </a:avLst>
          </a:prstGeom>
          <a:solidFill>
            <a:srgbClr val="F4F6FA"/>
          </a:solidFill>
          <a:ln w="12700">
            <a:solidFill>
              <a:srgbClr val="E8EEF7"/>
            </a:solidFill>
            <a:prstDash val="solid"/>
          </a:ln>
          <a:effectLst>
            <a:outerShdw sx="100000" sy="100000" kx="0" ky="0" algn="bl" rotWithShape="0" blurRad="127000" dist="25400" dir="5400000">
              <a:srgbClr val="9AAAC4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626864" y="19933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0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626864" y="233172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IPEDS → Python → Postgres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028432" y="1783080"/>
            <a:ext cx="3502152" cy="1691640"/>
          </a:xfrm>
          <a:prstGeom prst="roundRect">
            <a:avLst>
              <a:gd name="adj" fmla="val 4865"/>
            </a:avLst>
          </a:prstGeom>
          <a:solidFill>
            <a:srgbClr val="F4F6FA"/>
          </a:solidFill>
          <a:ln w="12700">
            <a:solidFill>
              <a:srgbClr val="E8EEF7"/>
            </a:solidFill>
            <a:prstDash val="solid"/>
          </a:ln>
          <a:effectLst>
            <a:outerShdw sx="100000" sy="100000" kx="0" ky="0" algn="bl" rotWithShape="0" blurRad="127000" dist="25400" dir="5400000">
              <a:srgbClr val="9AAAC4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21040" y="19933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0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321040" y="233172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each institution spends per student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37490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Whole-university, not per-program — and the first build to sit on a real database.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40080" y="4663440"/>
            <a:ext cx="10881360" cy="1234440"/>
          </a:xfrm>
          <a:prstGeom prst="roundRect">
            <a:avLst>
              <a:gd name="adj" fmla="val 6667"/>
            </a:avLst>
          </a:prstGeom>
          <a:solidFill>
            <a:srgbClr val="E8EEF7"/>
          </a:solidFill>
          <a:ln w="12700">
            <a:solidFill>
              <a:srgbClr val="E8EEF7"/>
            </a:solidFill>
            <a:prstDash val="solid"/>
          </a:ln>
          <a:effectLst>
            <a:outerShdw sx="100000" sy="100000" kx="0" ky="0" algn="bl" rotWithShape="0" blurRad="127000" dist="25400" dir="5400000">
              <a:srgbClr val="9AAAC4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60120" y="4892040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 </a:t>
            </a:r>
            <a:pPr indent="0" marL="0">
              <a:buNone/>
            </a:pPr>
            <a:r>
              <a:rPr lang="en-US" sz="1050" u="sng" dirty="0">
                <a:solidFill>
                  <a:srgbClr val="1F4E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https://anfelder613.github.io/yu-institutional-resources-dashboard/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60120" y="5303520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 </a:t>
            </a:r>
            <a:pPr indent="0" marL="0">
              <a:buNone/>
            </a:pPr>
            <a:r>
              <a:rPr lang="en-US" sz="1050" u="sng" dirty="0">
                <a:solidFill>
                  <a:srgbClr val="1F4E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https://github.com/anfelder613/yu-institutional-resources-dashboard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11480"/>
            <a:ext cx="566928" cy="566928"/>
          </a:xfrm>
          <a:prstGeom prst="ellipse">
            <a:avLst/>
          </a:prstGeom>
          <a:solidFill>
            <a:srgbClr val="12294F"/>
          </a:solidFill>
          <a:ln w="12700">
            <a:solidFill>
              <a:srgbClr val="12294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411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71600" y="384048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Tuition &amp; Fees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1371600" y="1060704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question from the student’s side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502152" cy="1691640"/>
          </a:xfrm>
          <a:prstGeom prst="roundRect">
            <a:avLst>
              <a:gd name="adj" fmla="val 4865"/>
            </a:avLst>
          </a:prstGeom>
          <a:solidFill>
            <a:srgbClr val="F4F6FA"/>
          </a:solidFill>
          <a:ln w="12700">
            <a:solidFill>
              <a:srgbClr val="E8EEF7"/>
            </a:solidFill>
            <a:prstDash val="solid"/>
          </a:ln>
          <a:effectLst>
            <a:outerShdw sx="100000" sy="100000" kx="0" ky="0" algn="bl" rotWithShape="0" blurRad="127000" dist="25400" dir="5400000">
              <a:srgbClr val="9AAAC4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32688" y="19933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0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932688" y="233172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· Python · Postgres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34256" y="1783080"/>
            <a:ext cx="3502152" cy="1691640"/>
          </a:xfrm>
          <a:prstGeom prst="roundRect">
            <a:avLst>
              <a:gd name="adj" fmla="val 4865"/>
            </a:avLst>
          </a:prstGeom>
          <a:solidFill>
            <a:srgbClr val="F4F6FA"/>
          </a:solidFill>
          <a:ln w="12700">
            <a:solidFill>
              <a:srgbClr val="E8EEF7"/>
            </a:solidFill>
            <a:prstDash val="solid"/>
          </a:ln>
          <a:effectLst>
            <a:outerShdw sx="100000" sy="100000" kx="0" ky="0" algn="bl" rotWithShape="0" blurRad="127000" dist="25400" dir="5400000">
              <a:srgbClr val="9AAAC4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626864" y="19933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0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626864" y="233172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IPEDS → Python → Postgres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028432" y="1783080"/>
            <a:ext cx="3502152" cy="1691640"/>
          </a:xfrm>
          <a:prstGeom prst="roundRect">
            <a:avLst>
              <a:gd name="adj" fmla="val 4865"/>
            </a:avLst>
          </a:prstGeom>
          <a:solidFill>
            <a:srgbClr val="F4F6FA"/>
          </a:solidFill>
          <a:ln w="12700">
            <a:solidFill>
              <a:srgbClr val="E8EEF7"/>
            </a:solidFill>
            <a:prstDash val="solid"/>
          </a:ln>
          <a:effectLst>
            <a:outerShdw sx="100000" sy="100000" kx="0" ky="0" algn="bl" rotWithShape="0" blurRad="127000" dist="25400" dir="5400000">
              <a:srgbClr val="9AAAC4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21040" y="19933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0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321040" y="233172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Undergraduate and graduate tuition, including fees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37490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 3 asks what the university spends. This one asks what the student pays.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40080" y="4663440"/>
            <a:ext cx="10881360" cy="868680"/>
          </a:xfrm>
          <a:prstGeom prst="roundRect">
            <a:avLst>
              <a:gd name="adj" fmla="val 9474"/>
            </a:avLst>
          </a:prstGeom>
          <a:solidFill>
            <a:srgbClr val="E8EEF7"/>
          </a:solidFill>
          <a:ln w="12700">
            <a:solidFill>
              <a:srgbClr val="E8EEF7"/>
            </a:solidFill>
            <a:prstDash val="solid"/>
          </a:ln>
          <a:effectLst>
            <a:outerShdw sx="100000" sy="100000" kx="0" ky="0" algn="bl" rotWithShape="0" blurRad="127000" dist="25400" dir="5400000">
              <a:srgbClr val="9AAAC4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60120" y="4956048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 </a:t>
            </a:r>
            <a:pPr indent="0" marL="0">
              <a:buNone/>
            </a:pPr>
            <a:r>
              <a:rPr lang="en-US" sz="1050" u="sng" dirty="0">
                <a:solidFill>
                  <a:srgbClr val="1F4E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https://github.com/anfelder613/yu-tuition-dashboard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56692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needs a server behind it, so GitHub Pages can’t host it live.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Measure Beats Five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lesson Dr. Kaplan pushed me toward, and the one that changed the project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57800" cy="2286000"/>
          </a:xfrm>
          <a:prstGeom prst="roundRect">
            <a:avLst>
              <a:gd name="adj" fmla="val 3600"/>
            </a:avLst>
          </a:prstGeom>
          <a:solidFill>
            <a:srgbClr val="F4F6FA"/>
          </a:solidFill>
          <a:ln w="12700">
            <a:solidFill>
              <a:srgbClr val="E8EEF7"/>
            </a:solidFill>
            <a:prstDash val="solid"/>
          </a:ln>
          <a:effectLst>
            <a:outerShdw sx="100000" sy="100000" kx="0" ky="0" algn="bl" rotWithShape="0" blurRad="127000" dist="25400" dir="5400000">
              <a:srgbClr val="9AAAC4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20116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0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235915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domains on one screen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60120" y="288036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Impressive to build. Hard for a busy stakeholder to react to.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63640" y="1783080"/>
            <a:ext cx="5257800" cy="2286000"/>
          </a:xfrm>
          <a:prstGeom prst="roundRect">
            <a:avLst>
              <a:gd name="adj" fmla="val 3600"/>
            </a:avLst>
          </a:prstGeom>
          <a:solidFill>
            <a:srgbClr val="E8EEF7"/>
          </a:solidFill>
          <a:ln w="12700">
            <a:solidFill>
              <a:srgbClr val="E8EEF7"/>
            </a:solidFill>
            <a:prstDash val="solid"/>
          </a:ln>
          <a:effectLst>
            <a:outerShdw sx="100000" sy="100000" kx="0" ky="0" algn="bl" rotWithShape="0" blurRad="127000" dist="25400" dir="5400000">
              <a:srgbClr val="9AAAC4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83680" y="20116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0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 2–4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583680" y="235915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measure each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583680" y="288036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Completions. Spend per student. Tuition. Plus year, plus CIP.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434840"/>
            <a:ext cx="10881360" cy="1600200"/>
          </a:xfrm>
          <a:prstGeom prst="roundRect">
            <a:avLst>
              <a:gd name="adj" fmla="val 5714"/>
            </a:avLst>
          </a:prstGeom>
          <a:solidFill>
            <a:srgbClr val="12294F"/>
          </a:solidFill>
          <a:ln w="12700">
            <a:solidFill>
              <a:srgbClr val="12294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4617720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it’s too complex, they overlook it — and then you never get feedback.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097280" y="525780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F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is how the data turns into action. Simple is what earns it.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Files Worth Opening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every repository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502152" cy="2377440"/>
          </a:xfrm>
          <a:prstGeom prst="roundRect">
            <a:avLst>
              <a:gd name="adj" fmla="val 3462"/>
            </a:avLst>
          </a:prstGeom>
          <a:solidFill>
            <a:srgbClr val="F4F6FA"/>
          </a:solidFill>
          <a:ln w="12700">
            <a:solidFill>
              <a:srgbClr val="E8EEF7"/>
            </a:solidFill>
            <a:prstDash val="solid"/>
          </a:ln>
          <a:effectLst>
            <a:outerShdw sx="100000" sy="100000" kx="0" ky="0" algn="bl" rotWithShape="0" blurRad="127000" dist="25400" dir="5400000">
              <a:srgbClr val="9AAAC4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32688" y="21031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29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README.md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32688" y="26060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0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HERE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32688" y="301752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fastest orientation to what the project is and how to run it.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34256" y="1828800"/>
            <a:ext cx="3502152" cy="2377440"/>
          </a:xfrm>
          <a:prstGeom prst="roundRect">
            <a:avLst>
              <a:gd name="adj" fmla="val 3462"/>
            </a:avLst>
          </a:prstGeom>
          <a:solidFill>
            <a:srgbClr val="F4F6FA"/>
          </a:solidFill>
          <a:ln w="12700">
            <a:solidFill>
              <a:srgbClr val="E8EEF7"/>
            </a:solidFill>
            <a:prstDash val="solid"/>
          </a:ln>
          <a:effectLst>
            <a:outerShdw sx="100000" sy="100000" kx="0" ky="0" algn="bl" rotWithShape="0" blurRad="127000" dist="25400" dir="5400000">
              <a:srgbClr val="9AAAC4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26864" y="21031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29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PRD.md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626864" y="26060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0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HUMAN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626864" y="301752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requirements — goals, scope, and decisions in readable form.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028432" y="1828800"/>
            <a:ext cx="3502152" cy="2377440"/>
          </a:xfrm>
          <a:prstGeom prst="roundRect">
            <a:avLst>
              <a:gd name="adj" fmla="val 3462"/>
            </a:avLst>
          </a:prstGeom>
          <a:solidFill>
            <a:srgbClr val="F4F6FA"/>
          </a:solidFill>
          <a:ln w="12700">
            <a:solidFill>
              <a:srgbClr val="E8EEF7"/>
            </a:solidFill>
            <a:prstDash val="solid"/>
          </a:ln>
          <a:effectLst>
            <a:outerShdw sx="100000" sy="100000" kx="0" ky="0" algn="bl" rotWithShape="0" blurRad="127000" dist="25400" dir="5400000">
              <a:srgbClr val="9AAAC4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21040" y="21031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29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CLAUDE.md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8321040" y="26060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0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AI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321040" y="301752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file I actually lived in while coding. Claude Code kept the PRD in sync with it.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29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F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14400" y="27432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Work Actually Got Done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3749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BF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agentic AI method, following Matt Pocock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 the Session Short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easiest habit to adopt — and the easiest to forget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4114800" cy="2880360"/>
          </a:xfrm>
          <a:prstGeom prst="roundRect">
            <a:avLst>
              <a:gd name="adj" fmla="val 2857"/>
            </a:avLst>
          </a:prstGeom>
          <a:solidFill>
            <a:srgbClr val="E8EEF7"/>
          </a:solidFill>
          <a:ln w="12700">
            <a:solidFill>
              <a:srgbClr val="E8EEF7"/>
            </a:solidFill>
            <a:prstDash val="solid"/>
          </a:ln>
          <a:effectLst>
            <a:outerShdw sx="100000" sy="100000" kx="0" ky="0" algn="bl" rotWithShape="0" blurRad="127000" dist="25400" dir="5400000">
              <a:srgbClr val="9AAAC4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224028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~10%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822960" y="3493008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context window</a:t>
            </a:r>
            <a:endParaRPr lang="en-US" sz="14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roughly where he draws the line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212080" y="2103120"/>
            <a:ext cx="63093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session is just the chat you’re sitting in. Let it run long and the model gets worse, not better.</a:t>
            </a:r>
            <a:endParaRPr lang="en-US" sz="16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 Pocock’s reading of Claude is that a leaner session outperforms a loaded one.</a:t>
            </a:r>
            <a:endParaRPr lang="en-US" sz="16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/context to see how much you’ve used so far. Start fresh before you need to.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in Vertical Slices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whole feature at a time — not one whole layer at a time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291840" cy="2286000"/>
          </a:xfrm>
          <a:prstGeom prst="roundRect">
            <a:avLst>
              <a:gd name="adj" fmla="val 3600"/>
            </a:avLst>
          </a:prstGeom>
          <a:solidFill>
            <a:srgbClr val="F4F6FA"/>
          </a:solidFill>
          <a:ln w="12700">
            <a:solidFill>
              <a:srgbClr val="E8EEF7"/>
            </a:solidFill>
            <a:prstDash val="solid"/>
          </a:ln>
          <a:effectLst>
            <a:outerShdw sx="100000" sy="100000" kx="0" ky="0" algn="bl" rotWithShape="0" blurRad="127000" dist="25400" dir="5400000">
              <a:srgbClr val="9AAAC4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194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0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SLICE 1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14400" y="25420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Just completions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306324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years. No universities. Nothing else on the screen.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069080" y="2880360"/>
            <a:ext cx="457200" cy="365760"/>
          </a:xfrm>
          <a:prstGeom prst="rightArrow">
            <a:avLst/>
          </a:prstGeom>
          <a:solidFill>
            <a:srgbClr val="1F4E8C"/>
          </a:solidFill>
          <a:ln w="12700">
            <a:solidFill>
              <a:srgbClr val="1F4E8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0" y="1920240"/>
            <a:ext cx="3291840" cy="2286000"/>
          </a:xfrm>
          <a:prstGeom prst="roundRect">
            <a:avLst>
              <a:gd name="adj" fmla="val 3600"/>
            </a:avLst>
          </a:prstGeom>
          <a:solidFill>
            <a:srgbClr val="F4F6FA"/>
          </a:solidFill>
          <a:ln w="12700">
            <a:solidFill>
              <a:srgbClr val="E8EEF7"/>
            </a:solidFill>
            <a:prstDash val="solid"/>
          </a:ln>
          <a:effectLst>
            <a:outerShdw sx="100000" sy="100000" kx="0" ky="0" algn="bl" rotWithShape="0" blurRad="127000" dist="25400" dir="5400000">
              <a:srgbClr val="9AAAC4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846320" y="2194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0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SLICE 2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846320" y="25420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the years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846320" y="306324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the same number moves across 2015–2024.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001000" y="2880360"/>
            <a:ext cx="457200" cy="365760"/>
          </a:xfrm>
          <a:prstGeom prst="rightArrow">
            <a:avLst/>
          </a:prstGeom>
          <a:solidFill>
            <a:srgbClr val="1F4E8C"/>
          </a:solidFill>
          <a:ln w="12700">
            <a:solidFill>
              <a:srgbClr val="1F4E8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503920" y="1920240"/>
            <a:ext cx="3291840" cy="2286000"/>
          </a:xfrm>
          <a:prstGeom prst="roundRect">
            <a:avLst>
              <a:gd name="adj" fmla="val 3600"/>
            </a:avLst>
          </a:prstGeom>
          <a:solidFill>
            <a:srgbClr val="F4F6FA"/>
          </a:solidFill>
          <a:ln w="12700">
            <a:solidFill>
              <a:srgbClr val="E8EEF7"/>
            </a:solidFill>
            <a:prstDash val="solid"/>
          </a:ln>
          <a:effectLst>
            <a:outerShdw sx="100000" sy="100000" kx="0" ky="0" algn="bl" rotWithShape="0" blurRad="127000" dist="25400" dir="5400000">
              <a:srgbClr val="9AAAC4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778240" y="2194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0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SLICE 3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778240" y="25420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the CIP toggle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778240" y="306324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between Math and Computer Science.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40080" y="461772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layer by layer — database, then back end, then front end — hides bugs until the end. A slice gives you the whole path through the product, so you catch them early and you can actually see what you built.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Grill Me Skill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that made the biggest difference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1463040"/>
          </a:xfrm>
          <a:prstGeom prst="roundRect">
            <a:avLst>
              <a:gd name="adj" fmla="val 5625"/>
            </a:avLst>
          </a:prstGeom>
          <a:solidFill>
            <a:srgbClr val="E8EEF7"/>
          </a:solidFill>
          <a:ln w="12700">
            <a:solidFill>
              <a:srgbClr val="E8EEF7"/>
            </a:solidFill>
            <a:prstDash val="solid"/>
          </a:ln>
          <a:effectLst>
            <a:outerShdw sx="100000" sy="100000" kx="0" ky="0" algn="bl" rotWithShape="0" blurRad="127000" dist="25400" dir="5400000">
              <a:srgbClr val="9AAAC4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97280" y="1828800"/>
            <a:ext cx="9966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Tell the AI to go on a question rampage — and answer every one of them.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40080" y="3767328"/>
            <a:ext cx="402336" cy="402336"/>
          </a:xfrm>
          <a:prstGeom prst="ellipse">
            <a:avLst/>
          </a:prstGeom>
          <a:solidFill>
            <a:srgbClr val="12294F"/>
          </a:solidFill>
          <a:ln w="12700">
            <a:solidFill>
              <a:srgbClr val="1229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3767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34440" y="37490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acts like a stakeholder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4663440" y="374904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the person who asks you twenty questions until they understand what you’re building.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681728"/>
            <a:ext cx="402336" cy="402336"/>
          </a:xfrm>
          <a:prstGeom prst="ellipse">
            <a:avLst/>
          </a:prstGeom>
          <a:solidFill>
            <a:srgbClr val="12294F"/>
          </a:solidFill>
          <a:ln w="12700">
            <a:solidFill>
              <a:srgbClr val="12294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46817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34440" y="46634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writes the CLAUDE.md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4663440" y="466344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answers become the documentation that everything else is built on.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5596128"/>
            <a:ext cx="402336" cy="402336"/>
          </a:xfrm>
          <a:prstGeom prst="ellipse">
            <a:avLst/>
          </a:prstGeom>
          <a:solidFill>
            <a:srgbClr val="12294F"/>
          </a:solidFill>
          <a:ln w="12700">
            <a:solidFill>
              <a:srgbClr val="12294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55961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34440" y="55778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trades time for time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4663440" y="557784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Slower at the start, faster everywhere after — because the model already knows what you want.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Five-Step Life Cycle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used, and what my documentation already covered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2057400" cy="2148840"/>
          </a:xfrm>
          <a:prstGeom prst="roundRect">
            <a:avLst>
              <a:gd name="adj" fmla="val 4000"/>
            </a:avLst>
          </a:prstGeom>
          <a:solidFill>
            <a:srgbClr val="12294F"/>
          </a:solidFill>
          <a:ln w="12700">
            <a:solidFill>
              <a:srgbClr val="12294F"/>
            </a:solidFill>
            <a:prstDash val="solid"/>
          </a:ln>
          <a:effectLst>
            <a:outerShdw sx="100000" sy="100000" kx="0" ky="0" algn="bl" rotWithShape="0" blurRad="127000" dist="25400" dir="5400000">
              <a:srgbClr val="9AAAC4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21488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Grill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269748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picture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880360" y="1828800"/>
            <a:ext cx="2057400" cy="2148840"/>
          </a:xfrm>
          <a:prstGeom prst="roundRect">
            <a:avLst>
              <a:gd name="adj" fmla="val 4000"/>
            </a:avLst>
          </a:prstGeom>
          <a:solidFill>
            <a:srgbClr val="F4F6FA"/>
          </a:solidFill>
          <a:ln w="12700">
            <a:solidFill>
              <a:srgbClr val="E8EEF7"/>
            </a:solidFill>
            <a:prstDash val="solid"/>
          </a:ln>
          <a:effectLst>
            <a:outerShdw sx="100000" sy="100000" kx="0" ky="0" algn="bl" rotWithShape="0" blurRad="127000" dist="25400" dir="5400000">
              <a:srgbClr val="9AAAC4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063240" y="21488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063240" y="269748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rules, written down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120640" y="1828800"/>
            <a:ext cx="2057400" cy="2148840"/>
          </a:xfrm>
          <a:prstGeom prst="roundRect">
            <a:avLst>
              <a:gd name="adj" fmla="val 4000"/>
            </a:avLst>
          </a:prstGeom>
          <a:solidFill>
            <a:srgbClr val="F4F6FA"/>
          </a:solidFill>
          <a:ln w="12700">
            <a:solidFill>
              <a:srgbClr val="E8EEF7"/>
            </a:solidFill>
            <a:prstDash val="solid"/>
          </a:ln>
          <a:effectLst>
            <a:outerShdw sx="100000" sy="100000" kx="0" ky="0" algn="bl" rotWithShape="0" blurRad="127000" dist="25400" dir="5400000">
              <a:srgbClr val="9AAAC4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303520" y="21488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Ticket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303520" y="269748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do, in order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60920" y="1828800"/>
            <a:ext cx="2057400" cy="2148840"/>
          </a:xfrm>
          <a:prstGeom prst="roundRect">
            <a:avLst>
              <a:gd name="adj" fmla="val 4000"/>
            </a:avLst>
          </a:prstGeom>
          <a:solidFill>
            <a:srgbClr val="12294F"/>
          </a:solidFill>
          <a:ln w="12700">
            <a:solidFill>
              <a:srgbClr val="12294F"/>
            </a:solidFill>
            <a:prstDash val="solid"/>
          </a:ln>
          <a:effectLst>
            <a:outerShdw sx="100000" sy="100000" kx="0" ky="0" algn="bl" rotWithShape="0" blurRad="127000" dist="25400" dir="5400000">
              <a:srgbClr val="9AAAC4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543800" y="21488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543800" y="269748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Slice by slice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601200" y="1828800"/>
            <a:ext cx="2057400" cy="2148840"/>
          </a:xfrm>
          <a:prstGeom prst="roundRect">
            <a:avLst>
              <a:gd name="adj" fmla="val 4000"/>
            </a:avLst>
          </a:prstGeom>
          <a:solidFill>
            <a:srgbClr val="F4F6FA"/>
          </a:solidFill>
          <a:ln w="12700">
            <a:solidFill>
              <a:srgbClr val="E8EEF7"/>
            </a:solidFill>
            <a:prstDash val="solid"/>
          </a:ln>
          <a:effectLst>
            <a:outerShdw sx="100000" sy="100000" kx="0" ky="0" algn="bl" rotWithShape="0" blurRad="127000" dist="25400" dir="5400000">
              <a:srgbClr val="9AAAC4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784080" y="21488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784080" y="269748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the code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41879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Filled = the steps I ran directly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822960" y="4709160"/>
            <a:ext cx="10515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Grill is the conversation. Spec turns it into written requirements. Ticket breaks that into slice one, slice two, slice three.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CLAUDE.md and PRD already were the spec, so I moved from Grill straight to Implement.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ran on its own a lot of the time — there was more to get out of it than I did.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Skill Actually Is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pre-programmed routine for something you do over and over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57800" cy="3108960"/>
          </a:xfrm>
          <a:prstGeom prst="roundRect">
            <a:avLst>
              <a:gd name="adj" fmla="val 2647"/>
            </a:avLst>
          </a:prstGeom>
          <a:solidFill>
            <a:srgbClr val="F4F6FA"/>
          </a:solidFill>
          <a:ln w="12700">
            <a:solidFill>
              <a:srgbClr val="E8EEF7"/>
            </a:solidFill>
            <a:prstDash val="solid"/>
          </a:ln>
          <a:effectLst>
            <a:outerShdw sx="100000" sy="100000" kx="0" ky="0" algn="bl" rotWithShape="0" blurRad="127000" dist="25400" dir="5400000">
              <a:srgbClr val="9AAAC4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210312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it once, use it everywhere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60120" y="2651760"/>
            <a:ext cx="4663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Grill Me — asks until it understands you</a:t>
            </a:r>
            <a:endParaRPr lang="en-US" sz="14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— builds from the spec or tickets</a:t>
            </a:r>
            <a:endParaRPr lang="en-US" sz="14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Review — reads back what was written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960120" y="4041648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them into a single project or into your whole Claude Code environment.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63640" y="1783080"/>
            <a:ext cx="5257800" cy="3108960"/>
          </a:xfrm>
          <a:prstGeom prst="roundRect">
            <a:avLst>
              <a:gd name="adj" fmla="val 2647"/>
            </a:avLst>
          </a:prstGeom>
          <a:solidFill>
            <a:srgbClr val="E8EEF7"/>
          </a:solidFill>
          <a:ln w="12700">
            <a:solidFill>
              <a:srgbClr val="E8EEF7"/>
            </a:solidFill>
            <a:prstDash val="solid"/>
          </a:ln>
          <a:effectLst>
            <a:outerShdw sx="100000" sy="100000" kx="0" ky="0" algn="bl" rotWithShape="0" blurRad="127000" dist="25400" dir="5400000">
              <a:srgbClr val="9AAAC4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83680" y="210312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outside the workflow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583680" y="265176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There’s a skill that builds an HTML explainer on any subject you name.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583680" y="3310128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i="1" dirty="0">
                <a:solidFill>
                  <a:srgbClr val="1F4E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“Teach me the basics of accounting.”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i="1" dirty="0">
                <a:solidFill>
                  <a:srgbClr val="1F4E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“Teach me marketing in healthcare.”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83680" y="4224528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idea, different job: one repeatable task, packaged.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JSON or Postgres?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this much data, JSON would have been enough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57800" cy="2834640"/>
          </a:xfrm>
          <a:prstGeom prst="roundRect">
            <a:avLst>
              <a:gd name="adj" fmla="val 2903"/>
            </a:avLst>
          </a:prstGeom>
          <a:solidFill>
            <a:srgbClr val="F4F6FA"/>
          </a:solidFill>
          <a:ln w="12700">
            <a:solidFill>
              <a:srgbClr val="E8EEF7"/>
            </a:solidFill>
            <a:prstDash val="solid"/>
          </a:ln>
          <a:effectLst>
            <a:outerShdw sx="100000" sy="100000" kx="0" ky="0" algn="bl" rotWithShape="0" blurRad="127000" dist="25400" dir="5400000">
              <a:srgbClr val="9AAAC4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20116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9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60120" y="2560320"/>
            <a:ext cx="4663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plain text file you can just open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install, nothing to run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answer at a small scale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263640" y="1783080"/>
            <a:ext cx="5257800" cy="2834640"/>
          </a:xfrm>
          <a:prstGeom prst="roundRect">
            <a:avLst>
              <a:gd name="adj" fmla="val 2903"/>
            </a:avLst>
          </a:prstGeom>
          <a:solidFill>
            <a:srgbClr val="E8EEF7"/>
          </a:solidFill>
          <a:ln w="12700">
            <a:solidFill>
              <a:srgbClr val="E8EEF7"/>
            </a:solidFill>
            <a:prstDash val="solid"/>
          </a:ln>
          <a:effectLst>
            <a:outerShdw sx="100000" sy="100000" kx="0" ky="0" algn="bl" rotWithShape="0" blurRad="127000" dist="25400" dir="5400000">
              <a:srgbClr val="9AAAC4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0" y="20116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9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Postgres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583680" y="2560320"/>
            <a:ext cx="4663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program that stores data and answers questions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large volumes and many writers at once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and combine without loading it all into memory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40080" y="49377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why Postgres? To learn it — and so the project has somewhere to grow if this ever scales up.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Streamlit or React?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of these dashboards went each way — and both choices were reasonable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57800" cy="3794760"/>
          </a:xfrm>
          <a:prstGeom prst="roundRect">
            <a:avLst>
              <a:gd name="adj" fmla="val 2169"/>
            </a:avLst>
          </a:prstGeom>
          <a:solidFill>
            <a:srgbClr val="F4F6FA"/>
          </a:solidFill>
          <a:ln w="12700">
            <a:solidFill>
              <a:srgbClr val="E8EEF7"/>
            </a:solidFill>
            <a:prstDash val="solid"/>
          </a:ln>
          <a:effectLst>
            <a:outerShdw sx="100000" sy="100000" kx="0" ky="0" algn="bl" rotWithShape="0" blurRad="127000" dist="25400" dir="5400000">
              <a:srgbClr val="9AAAC4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20116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React · Vite · Recharts · Tailwind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60120" y="2560320"/>
            <a:ext cx="4663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Hosts free on GitHub Pages and stays up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Looks exactly the way you built it, every time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 fast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work up front on the layout and the code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263640" y="1783080"/>
            <a:ext cx="5257800" cy="3794760"/>
          </a:xfrm>
          <a:prstGeom prst="roundRect">
            <a:avLst>
              <a:gd name="adj" fmla="val 2169"/>
            </a:avLst>
          </a:prstGeom>
          <a:solidFill>
            <a:srgbClr val="E8EEF7"/>
          </a:solidFill>
          <a:ln w="12700">
            <a:solidFill>
              <a:srgbClr val="E8EEF7"/>
            </a:solidFill>
            <a:prstDash val="solid"/>
          </a:ln>
          <a:effectLst>
            <a:outerShdw sx="100000" sy="100000" kx="0" ky="0" algn="bl" rotWithShape="0" blurRad="127000" dist="25400" dir="5400000">
              <a:srgbClr val="9AAAC4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0" y="20116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Streamlit · Python · Plotly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583680" y="2560320"/>
            <a:ext cx="4663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— which most data people already read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code to write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Recalculates quickly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 server running behind it, so it can’t go live on Pages</a:t>
            </a:r>
            <a:endParaRPr lang="en-US" sz="14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229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8580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822960" y="1463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BF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from this capstone, in one place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2057400"/>
            <a:ext cx="10515600" cy="914400"/>
          </a:xfrm>
          <a:prstGeom prst="roundRect">
            <a:avLst>
              <a:gd name="adj" fmla="val 10000"/>
            </a:avLst>
          </a:prstGeom>
          <a:solidFill>
            <a:srgbClr val="1B3A6B"/>
          </a:solidFill>
          <a:ln w="12700">
            <a:solidFill>
              <a:srgbClr val="2E569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0574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u="sng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anfelder613.github.io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22960" y="329184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 University Overview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023360" y="3291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code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384048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 PhD Completions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023360" y="38404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code</a:t>
            </a:r>
            <a:pPr indent="0" marL="0">
              <a:buNone/>
            </a:pPr>
            <a:r>
              <a:rPr lang="en-US" sz="1200" dirty="0">
                <a:solidFill>
                  <a:srgbClr val="4A6C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live dashboard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438912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 Institutional Resources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023360" y="43891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code</a:t>
            </a:r>
            <a:pPr indent="0" marL="0">
              <a:buNone/>
            </a:pPr>
            <a:r>
              <a:rPr lang="en-US" sz="1200" dirty="0">
                <a:solidFill>
                  <a:srgbClr val="4A6C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live dashboard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493776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 Tuition &amp; Fees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023360" y="4937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code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59893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F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Avigdor Felder  ·  Katz School of Science and Health, Yeshiva University  ·  Summer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Capstone: Agentic AI in the Data Analyst Workflow</dc:title>
  <dc:subject>PptxGenJS Presentation</dc:subject>
  <dc:creator>Avigdor Felder</dc:creator>
  <cp:lastModifiedBy>Avigdor Felder</cp:lastModifiedBy>
  <cp:revision>1</cp:revision>
  <dcterms:created xsi:type="dcterms:W3CDTF">2026-08-12T02:00:31Z</dcterms:created>
  <dcterms:modified xsi:type="dcterms:W3CDTF">2026-08-12T02:00:31Z</dcterms:modified>
</cp:coreProperties>
</file>